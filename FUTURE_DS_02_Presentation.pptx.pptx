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DFDF2A-7FDC-4ACB-A0A8-F539473B6702}" v="310" dt="2026-05-14T13:24:57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541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094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735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157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5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24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54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7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4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49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5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6" r:id="rId6"/>
    <p:sldLayoutId id="2147483731" r:id="rId7"/>
    <p:sldLayoutId id="2147483732" r:id="rId8"/>
    <p:sldLayoutId id="2147483733" r:id="rId9"/>
    <p:sldLayoutId id="2147483735" r:id="rId10"/>
    <p:sldLayoutId id="214748373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601" y="976152"/>
            <a:ext cx="5613399" cy="5024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Task 2 Report Structure</a:t>
            </a:r>
            <a:br>
              <a:rPr lang="en-US"/>
            </a:b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4F7EC0-B8AC-4E93-A415-71AF71B12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97624" y="976158"/>
            <a:ext cx="4440589" cy="50249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Customer Retention &amp; Churn Analysis</a:t>
            </a:r>
          </a:p>
          <a:p>
            <a:r>
              <a:rPr lang="en-US" sz="2000">
                <a:solidFill>
                  <a:schemeClr val="tx2">
                    <a:lumMod val="76000"/>
                    <a:lumOff val="24000"/>
                  </a:schemeClr>
                </a:solidFill>
              </a:rPr>
              <a:t>Data Science &amp; Analytics Internship – Future Interns</a:t>
            </a:r>
          </a:p>
          <a:p>
            <a:r>
              <a:rPr lang="en-US" sz="2000"/>
              <a:t>Submitted By:</a:t>
            </a:r>
          </a:p>
          <a:p>
            <a:r>
              <a:rPr lang="en-US" sz="2000" dirty="0" err="1"/>
              <a:t>Vanukuri.Dhathri</a:t>
            </a:r>
            <a:endParaRPr lang="en-US" sz="2000"/>
          </a:p>
          <a:p>
            <a:r>
              <a:rPr lang="en-US" sz="2000">
                <a:solidFill>
                  <a:srgbClr val="FF0000"/>
                </a:solidFill>
              </a:rPr>
              <a:t>Task 2</a:t>
            </a:r>
          </a:p>
          <a:p>
            <a:r>
              <a:rPr lang="en-US" sz="2000"/>
              <a:t>Date:</a:t>
            </a:r>
          </a:p>
          <a:p>
            <a:r>
              <a:rPr lang="en-US" sz="2000"/>
              <a:t>19 May 2026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6F0AD64-835F-42E2-B4C7-47A77348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E455E-B2F4-6CDD-70C6-DEE4AE93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52"/>
            <a:ext cx="5613399" cy="5024920"/>
          </a:xfrm>
        </p:spPr>
        <p:txBody>
          <a:bodyPr anchor="ctr">
            <a:normAutofit/>
          </a:bodyPr>
          <a:lstStyle/>
          <a:p>
            <a:r>
              <a:rPr lang="en-GB">
                <a:ea typeface="+mj-lt"/>
                <a:cs typeface="+mj-lt"/>
              </a:rPr>
              <a:t>Objective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4F7EC0-B8AC-4E93-A415-71AF71B12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74412-7B7F-E7A5-FD35-F7A2C7C1F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624" y="976158"/>
            <a:ext cx="4440589" cy="50249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>
                <a:solidFill>
                  <a:srgbClr val="FF0000"/>
                </a:solidFill>
              </a:rPr>
              <a:t>Objective:</a:t>
            </a:r>
            <a:endParaRPr lang="en-US" sz="2000">
              <a:solidFill>
                <a:srgbClr val="FF0000"/>
              </a:solidFill>
            </a:endParaRPr>
          </a:p>
          <a:p>
            <a:r>
              <a:rPr lang="en-GB" sz="2000"/>
              <a:t> The objective of this project is to </a:t>
            </a:r>
            <a:r>
              <a:rPr lang="en-GB" sz="2000" err="1"/>
              <a:t>analyze</a:t>
            </a:r>
            <a:r>
              <a:rPr lang="en-GB" sz="2000"/>
              <a:t> customer retention and churn patterns to identify customer </a:t>
            </a:r>
            <a:r>
              <a:rPr lang="en-GB" sz="2000" err="1"/>
              <a:t>behavior</a:t>
            </a:r>
            <a:r>
              <a:rPr lang="en-GB" sz="2000"/>
              <a:t>, retention trends, and factors affecting customer loss using data analytics and visualization techniques.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F0AD64-835F-42E2-B4C7-47A77348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352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BFAAC0-4BDB-6463-7407-65DA21CCA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52"/>
            <a:ext cx="5613399" cy="5024920"/>
          </a:xfrm>
        </p:spPr>
        <p:txBody>
          <a:bodyPr anchor="ctr">
            <a:normAutofit/>
          </a:bodyPr>
          <a:lstStyle/>
          <a:p>
            <a:r>
              <a:rPr lang="en-GB">
                <a:ea typeface="+mj-lt"/>
                <a:cs typeface="+mj-lt"/>
              </a:rPr>
              <a:t>Dataset Information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4F7EC0-B8AC-4E93-A415-71AF71B12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5807E-4A67-BAE1-2E30-5ADB95948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624" y="976158"/>
            <a:ext cx="4440589" cy="50249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700">
                <a:solidFill>
                  <a:srgbClr val="FF0000"/>
                </a:solidFill>
                <a:ea typeface="+mn-lt"/>
                <a:cs typeface="+mn-lt"/>
              </a:rPr>
              <a:t>Dataset Information</a:t>
            </a:r>
            <a:endParaRPr lang="en-US" sz="170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700">
                <a:solidFill>
                  <a:srgbClr val="0070C0"/>
                </a:solidFill>
                <a:ea typeface="+mn-lt"/>
                <a:cs typeface="+mn-lt"/>
              </a:rPr>
              <a:t>Dataset Name:</a:t>
            </a:r>
            <a:r>
              <a:rPr lang="en-GB" sz="1700">
                <a:ea typeface="+mn-lt"/>
                <a:cs typeface="+mn-lt"/>
              </a:rPr>
              <a:t> Customer Churn Dataset</a:t>
            </a:r>
            <a:endParaRPr lang="en-GB" sz="1700"/>
          </a:p>
          <a:p>
            <a:pPr>
              <a:lnSpc>
                <a:spcPct val="90000"/>
              </a:lnSpc>
            </a:pPr>
            <a:r>
              <a:rPr lang="en-GB" sz="1700">
                <a:solidFill>
                  <a:srgbClr val="0070C0"/>
                </a:solidFill>
                <a:ea typeface="+mn-lt"/>
                <a:cs typeface="+mn-lt"/>
              </a:rPr>
              <a:t>Number of Rows:</a:t>
            </a:r>
            <a:r>
              <a:rPr lang="en-GB" sz="1700">
                <a:ea typeface="+mn-lt"/>
                <a:cs typeface="+mn-lt"/>
              </a:rPr>
              <a:t> 7000+</a:t>
            </a:r>
            <a:endParaRPr lang="en-GB" sz="1700"/>
          </a:p>
          <a:p>
            <a:pPr>
              <a:lnSpc>
                <a:spcPct val="90000"/>
              </a:lnSpc>
            </a:pPr>
            <a:r>
              <a:rPr lang="en-GB" sz="1700">
                <a:solidFill>
                  <a:srgbClr val="0070C0"/>
                </a:solidFill>
                <a:ea typeface="+mn-lt"/>
                <a:cs typeface="+mn-lt"/>
              </a:rPr>
              <a:t>Number of Columns:</a:t>
            </a:r>
            <a:r>
              <a:rPr lang="en-GB" sz="1700">
                <a:ea typeface="+mn-lt"/>
                <a:cs typeface="+mn-lt"/>
              </a:rPr>
              <a:t> 20+</a:t>
            </a:r>
            <a:endParaRPr lang="en-GB" sz="1700"/>
          </a:p>
          <a:p>
            <a:pPr>
              <a:lnSpc>
                <a:spcPct val="90000"/>
              </a:lnSpc>
            </a:pPr>
            <a:r>
              <a:rPr lang="en-GB" sz="1700">
                <a:solidFill>
                  <a:srgbClr val="0070C0"/>
                </a:solidFill>
                <a:ea typeface="+mn-lt"/>
                <a:cs typeface="+mn-lt"/>
              </a:rPr>
              <a:t>important Columns:</a:t>
            </a:r>
            <a:endParaRPr lang="en-GB" sz="170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700">
                <a:ea typeface="+mn-lt"/>
                <a:cs typeface="+mn-lt"/>
              </a:rPr>
              <a:t>• Customer ID</a:t>
            </a:r>
            <a:endParaRPr lang="en-GB" sz="1700"/>
          </a:p>
          <a:p>
            <a:pPr>
              <a:lnSpc>
                <a:spcPct val="90000"/>
              </a:lnSpc>
            </a:pPr>
            <a:r>
              <a:rPr lang="en-GB" sz="1700">
                <a:ea typeface="+mn-lt"/>
                <a:cs typeface="+mn-lt"/>
              </a:rPr>
              <a:t>• Gender</a:t>
            </a:r>
            <a:endParaRPr lang="en-GB" sz="1700"/>
          </a:p>
          <a:p>
            <a:pPr>
              <a:lnSpc>
                <a:spcPct val="90000"/>
              </a:lnSpc>
            </a:pPr>
            <a:r>
              <a:rPr lang="en-GB" sz="1700">
                <a:ea typeface="+mn-lt"/>
                <a:cs typeface="+mn-lt"/>
              </a:rPr>
              <a:t>• Tenure</a:t>
            </a:r>
            <a:endParaRPr lang="en-GB" sz="1700"/>
          </a:p>
          <a:p>
            <a:pPr>
              <a:lnSpc>
                <a:spcPct val="90000"/>
              </a:lnSpc>
            </a:pPr>
            <a:r>
              <a:rPr lang="en-GB" sz="1700">
                <a:ea typeface="+mn-lt"/>
                <a:cs typeface="+mn-lt"/>
              </a:rPr>
              <a:t>• Monthly Charges</a:t>
            </a:r>
            <a:endParaRPr lang="en-GB" sz="1700"/>
          </a:p>
          <a:p>
            <a:pPr>
              <a:lnSpc>
                <a:spcPct val="90000"/>
              </a:lnSpc>
            </a:pPr>
            <a:r>
              <a:rPr lang="en-GB" sz="1700">
                <a:ea typeface="+mn-lt"/>
                <a:cs typeface="+mn-lt"/>
              </a:rPr>
              <a:t>• Total Charges</a:t>
            </a:r>
            <a:endParaRPr lang="en-GB" sz="1700"/>
          </a:p>
          <a:p>
            <a:pPr>
              <a:lnSpc>
                <a:spcPct val="90000"/>
              </a:lnSpc>
            </a:pPr>
            <a:r>
              <a:rPr lang="en-GB" sz="1700">
                <a:ea typeface="+mn-lt"/>
                <a:cs typeface="+mn-lt"/>
              </a:rPr>
              <a:t>• Contract Type</a:t>
            </a:r>
            <a:endParaRPr lang="en-GB" sz="1700"/>
          </a:p>
          <a:p>
            <a:pPr>
              <a:lnSpc>
                <a:spcPct val="90000"/>
              </a:lnSpc>
            </a:pPr>
            <a:r>
              <a:rPr lang="en-GB" sz="1700">
                <a:ea typeface="+mn-lt"/>
                <a:cs typeface="+mn-lt"/>
              </a:rPr>
              <a:t>• Internet Service</a:t>
            </a:r>
            <a:endParaRPr lang="en-GB" sz="1700"/>
          </a:p>
          <a:p>
            <a:pPr>
              <a:lnSpc>
                <a:spcPct val="90000"/>
              </a:lnSpc>
            </a:pPr>
            <a:r>
              <a:rPr lang="en-GB" sz="1700">
                <a:ea typeface="+mn-lt"/>
                <a:cs typeface="+mn-lt"/>
              </a:rPr>
              <a:t>• Churn</a:t>
            </a:r>
            <a:endParaRPr lang="en-GB" sz="17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F0AD64-835F-42E2-B4C7-47A77348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17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74ABF-A24E-7B15-B52A-E5EA8734F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52"/>
            <a:ext cx="5613399" cy="5024920"/>
          </a:xfrm>
        </p:spPr>
        <p:txBody>
          <a:bodyPr anchor="ctr">
            <a:normAutofit/>
          </a:bodyPr>
          <a:lstStyle/>
          <a:p>
            <a:r>
              <a:rPr lang="en-GB">
                <a:ea typeface="+mj-lt"/>
                <a:cs typeface="+mj-lt"/>
              </a:rPr>
              <a:t>Tools &amp; Technologies Used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4F7EC0-B8AC-4E93-A415-71AF71B12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E9BC2-F8F1-6E06-5207-771986F44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624" y="976158"/>
            <a:ext cx="4440589" cy="50249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>
                <a:solidFill>
                  <a:srgbClr val="FF0000"/>
                </a:solidFill>
                <a:ea typeface="+mn-lt"/>
                <a:cs typeface="+mn-lt"/>
              </a:rPr>
              <a:t>Tools &amp; Technologies Used</a:t>
            </a:r>
            <a:endParaRPr lang="en-US" sz="2000">
              <a:solidFill>
                <a:srgbClr val="FF0000"/>
              </a:solidFill>
            </a:endParaRPr>
          </a:p>
          <a:p>
            <a:endParaRPr lang="en-GB" sz="2000"/>
          </a:p>
          <a:p>
            <a:r>
              <a:rPr lang="en-GB" sz="2000">
                <a:ea typeface="+mn-lt"/>
                <a:cs typeface="+mn-lt"/>
              </a:rPr>
              <a:t>• Python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Pandas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Matplotlib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Seaborn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</a:t>
            </a:r>
            <a:r>
              <a:rPr lang="en-GB" sz="2000" err="1">
                <a:ea typeface="+mn-lt"/>
                <a:cs typeface="+mn-lt"/>
              </a:rPr>
              <a:t>Jupyter</a:t>
            </a:r>
            <a:r>
              <a:rPr lang="en-GB" sz="2000">
                <a:ea typeface="+mn-lt"/>
                <a:cs typeface="+mn-lt"/>
              </a:rPr>
              <a:t> Notebook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VS Code</a:t>
            </a:r>
            <a:endParaRPr lang="en-GB" sz="20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F0AD64-835F-42E2-B4C7-47A77348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614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700F3-89CF-D8C4-3551-382E7A1CF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52"/>
            <a:ext cx="5613399" cy="5024920"/>
          </a:xfrm>
        </p:spPr>
        <p:txBody>
          <a:bodyPr anchor="ctr">
            <a:normAutofit/>
          </a:bodyPr>
          <a:lstStyle/>
          <a:p>
            <a:r>
              <a:rPr lang="en-GB">
                <a:ea typeface="+mj-lt"/>
                <a:cs typeface="+mj-lt"/>
              </a:rPr>
              <a:t>Data Cleaning Process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4F7EC0-B8AC-4E93-A415-71AF71B12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95E69-8AB8-9D6A-1ACF-32157720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624" y="976158"/>
            <a:ext cx="4440589" cy="50249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>
                <a:solidFill>
                  <a:srgbClr val="FF0000"/>
                </a:solidFill>
                <a:ea typeface="+mn-lt"/>
                <a:cs typeface="+mn-lt"/>
              </a:rPr>
              <a:t>Data Cleaning Process</a:t>
            </a:r>
            <a:endParaRPr lang="en-US" sz="2000">
              <a:solidFill>
                <a:srgbClr val="FF0000"/>
              </a:solidFill>
            </a:endParaRPr>
          </a:p>
          <a:p>
            <a:endParaRPr lang="en-GB" sz="2000"/>
          </a:p>
          <a:p>
            <a:r>
              <a:rPr lang="en-GB" sz="2000">
                <a:ea typeface="+mn-lt"/>
                <a:cs typeface="+mn-lt"/>
              </a:rPr>
              <a:t>• Removed missing values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Checked duplicate records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Converted data types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Handled inconsistent values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Verified churn column data</a:t>
            </a:r>
            <a:endParaRPr lang="en-GB" sz="20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F0AD64-835F-42E2-B4C7-47A77348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844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1ADAF-15B3-B6BE-410A-87DD3360D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52"/>
            <a:ext cx="5613399" cy="5024920"/>
          </a:xfrm>
        </p:spPr>
        <p:txBody>
          <a:bodyPr anchor="ctr">
            <a:normAutofit/>
          </a:bodyPr>
          <a:lstStyle/>
          <a:p>
            <a:r>
              <a:rPr lang="en-GB">
                <a:ea typeface="+mj-lt"/>
                <a:cs typeface="+mj-lt"/>
              </a:rPr>
              <a:t>Customer Churn Analysis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4F7EC0-B8AC-4E93-A415-71AF71B12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D7611-146A-57A6-03D0-21EC6CD8F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624" y="976158"/>
            <a:ext cx="4440589" cy="50249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>
                <a:solidFill>
                  <a:srgbClr val="FF0000"/>
                </a:solidFill>
                <a:ea typeface="+mn-lt"/>
                <a:cs typeface="+mn-lt"/>
              </a:rPr>
              <a:t>Add:</a:t>
            </a:r>
            <a:endParaRPr lang="en-US" sz="2000">
              <a:solidFill>
                <a:srgbClr val="FF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Pie chart screenshot </a:t>
            </a:r>
            <a:endParaRPr lang="en-GB" sz="2000"/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Churn distribution graph </a:t>
            </a:r>
            <a:endParaRPr lang="en-GB" sz="2000"/>
          </a:p>
          <a:p>
            <a:r>
              <a:rPr lang="en-GB" sz="2000">
                <a:solidFill>
                  <a:srgbClr val="FF0000"/>
                </a:solidFill>
                <a:ea typeface="+mn-lt"/>
                <a:cs typeface="+mn-lt"/>
              </a:rPr>
              <a:t>Insights</a:t>
            </a:r>
            <a:endParaRPr lang="en-GB" sz="2000">
              <a:solidFill>
                <a:srgbClr val="FF0000"/>
              </a:solidFill>
            </a:endParaRPr>
          </a:p>
          <a:p>
            <a:r>
              <a:rPr lang="en-GB" sz="2000">
                <a:ea typeface="+mn-lt"/>
                <a:cs typeface="+mn-lt"/>
              </a:rPr>
              <a:t>• A significant percentage of customers left the service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Customers with month-to-month contracts showed higher churn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Long-term contract customers had better retention</a:t>
            </a:r>
            <a:endParaRPr lang="en-GB" sz="20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F0AD64-835F-42E2-B4C7-47A77348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25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7FE5201-BB98-480C-BADB-207C8F893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5A1411-0C46-4437-890D-A6FADAA96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07" y="489855"/>
            <a:ext cx="11147071" cy="2449283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4E9B3-BEB7-435D-7E7B-34DCE805B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07" y="738102"/>
            <a:ext cx="10491396" cy="20062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EXAMPLES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7A030CB-D662-4E87-B668-9DE9163E9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95090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9C6C02-EDA3-4D0B-9C4E-AAE0F2C7D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39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Content Placeholder 3" descr="A pie chart with numbers and a number of pies&#10;&#10;AI-generated content may be incorrect.">
            <a:extLst>
              <a:ext uri="{FF2B5EF4-FFF2-40B4-BE49-F238E27FC236}">
                <a16:creationId xmlns:a16="http://schemas.microsoft.com/office/drawing/2014/main" id="{BB16EDD1-44D6-E585-2A64-EA7F69196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37892" y="3133954"/>
            <a:ext cx="2636852" cy="1503006"/>
          </a:xfrm>
          <a:prstGeom prst="rect">
            <a:avLst/>
          </a:prstGeom>
        </p:spPr>
      </p:pic>
      <p:pic>
        <p:nvPicPr>
          <p:cNvPr id="8" name="Picture 7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A7756532-F38E-56BF-285E-5E9DC91649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768787" y="3141627"/>
            <a:ext cx="2860883" cy="1487659"/>
          </a:xfrm>
          <a:prstGeom prst="rect">
            <a:avLst/>
          </a:prstGeom>
        </p:spPr>
      </p:pic>
      <p:pic>
        <p:nvPicPr>
          <p:cNvPr id="6" name="Picture 5" descr="A graph with blue lines">
            <a:extLst>
              <a:ext uri="{FF2B5EF4-FFF2-40B4-BE49-F238E27FC236}">
                <a16:creationId xmlns:a16="http://schemas.microsoft.com/office/drawing/2014/main" id="{04CFF9B0-4620-C34C-D244-A3159E06457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5877" y="4722018"/>
            <a:ext cx="2860883" cy="1387528"/>
          </a:xfrm>
          <a:prstGeom prst="rect">
            <a:avLst/>
          </a:prstGeom>
        </p:spPr>
      </p:pic>
      <p:pic>
        <p:nvPicPr>
          <p:cNvPr id="5" name="Picture 4" descr="A graph of a number of blue squares&#10;&#10;AI-generated content may be incorrect.">
            <a:extLst>
              <a:ext uri="{FF2B5EF4-FFF2-40B4-BE49-F238E27FC236}">
                <a16:creationId xmlns:a16="http://schemas.microsoft.com/office/drawing/2014/main" id="{87486D8A-CB89-DFC1-0F46-D581BB33A31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87408" y="3136376"/>
            <a:ext cx="2860883" cy="1244483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6660E41-71CE-4FFE-9511-E9964B38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307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FDF7B-272B-B7FE-7918-B9EA8552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52"/>
            <a:ext cx="5613399" cy="5024920"/>
          </a:xfrm>
        </p:spPr>
        <p:txBody>
          <a:bodyPr anchor="ctr">
            <a:normAutofit/>
          </a:bodyPr>
          <a:lstStyle/>
          <a:p>
            <a:r>
              <a:rPr lang="en-GB">
                <a:ea typeface="+mj-lt"/>
                <a:cs typeface="+mj-lt"/>
              </a:rPr>
              <a:t>Contract Type Analysis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4F7EC0-B8AC-4E93-A415-71AF71B12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4CF1-A329-5B7F-7D3C-7D9097CFF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624" y="-852642"/>
            <a:ext cx="4440589" cy="68537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>
                <a:solidFill>
                  <a:srgbClr val="FF0000"/>
                </a:solidFill>
                <a:ea typeface="+mn-lt"/>
                <a:cs typeface="+mn-lt"/>
              </a:rPr>
              <a:t>Add:</a:t>
            </a:r>
            <a:endParaRPr lang="en-US" sz="2000">
              <a:solidFill>
                <a:srgbClr val="FF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Bar chart screenshot </a:t>
            </a:r>
            <a:endParaRPr lang="en-GB" sz="2000"/>
          </a:p>
          <a:p>
            <a:r>
              <a:rPr lang="en-GB" sz="2000">
                <a:solidFill>
                  <a:srgbClr val="FF0000"/>
                </a:solidFill>
                <a:ea typeface="+mn-lt"/>
                <a:cs typeface="+mn-lt"/>
              </a:rPr>
              <a:t>Insights:</a:t>
            </a:r>
            <a:endParaRPr lang="en-GB" sz="2000">
              <a:solidFill>
                <a:srgbClr val="FF0000"/>
              </a:solidFill>
            </a:endParaRPr>
          </a:p>
          <a:p>
            <a:r>
              <a:rPr lang="en-GB" sz="2000">
                <a:ea typeface="+mn-lt"/>
                <a:cs typeface="+mn-lt"/>
              </a:rPr>
              <a:t>• Month-to-month contracts had the highest churn rate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Two-year contracts showed strong customer retention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Contract duration impacts customer loyalty</a:t>
            </a:r>
            <a:endParaRPr lang="en-GB" sz="20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F0AD64-835F-42E2-B4C7-47A77348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B95C91A2-82DF-6E24-D3EE-1244F1C3C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084" y="4380489"/>
            <a:ext cx="4136573" cy="181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72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69B2BD-2BAB-4DA2-C4C3-47794D601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52"/>
            <a:ext cx="5613399" cy="5024920"/>
          </a:xfrm>
        </p:spPr>
        <p:txBody>
          <a:bodyPr anchor="ctr">
            <a:normAutofit/>
          </a:bodyPr>
          <a:lstStyle/>
          <a:p>
            <a:r>
              <a:rPr lang="en-GB">
                <a:ea typeface="+mj-lt"/>
                <a:cs typeface="+mj-lt"/>
              </a:rPr>
              <a:t>Monthly Charges Analysis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4F7EC0-B8AC-4E93-A415-71AF71B12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7A2A1-DF51-31A3-87D4-FD839AFFD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3195" y="-754670"/>
            <a:ext cx="4440589" cy="58304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>
                <a:solidFill>
                  <a:srgbClr val="FF0000"/>
                </a:solidFill>
                <a:ea typeface="+mn-lt"/>
                <a:cs typeface="+mn-lt"/>
              </a:rPr>
              <a:t>Add:</a:t>
            </a:r>
            <a:endParaRPr lang="en-US" sz="2000">
              <a:solidFill>
                <a:srgbClr val="FF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Histogram/boxplot screenshot </a:t>
            </a:r>
            <a:endParaRPr lang="en-GB" sz="2000"/>
          </a:p>
          <a:p>
            <a:r>
              <a:rPr lang="en-GB" sz="2000">
                <a:solidFill>
                  <a:srgbClr val="FF0000"/>
                </a:solidFill>
                <a:ea typeface="+mn-lt"/>
                <a:cs typeface="+mn-lt"/>
              </a:rPr>
              <a:t>Insights:</a:t>
            </a:r>
          </a:p>
          <a:p>
            <a:r>
              <a:rPr lang="en-GB" sz="2000">
                <a:ea typeface="+mn-lt"/>
                <a:cs typeface="+mn-lt"/>
              </a:rPr>
              <a:t>• Customers with higher monthly charges were more likely to churn</a:t>
            </a:r>
            <a:endParaRPr lang="en-GB"/>
          </a:p>
          <a:p>
            <a:r>
              <a:rPr lang="en-GB" sz="2000" dirty="0">
                <a:ea typeface="+mn-lt"/>
                <a:cs typeface="+mn-lt"/>
              </a:rPr>
              <a:t>• Pricing influenced customer retention </a:t>
            </a:r>
            <a:r>
              <a:rPr lang="en-GB" sz="2000" dirty="0" err="1">
                <a:ea typeface="+mn-lt"/>
                <a:cs typeface="+mn-lt"/>
              </a:rPr>
              <a:t>behavior</a:t>
            </a:r>
            <a:endParaRPr lang="en-GB" dirty="0" err="1"/>
          </a:p>
          <a:p>
            <a:endParaRPr lang="en-GB" sz="20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F0AD64-835F-42E2-B4C7-47A77348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 descr="A graph with blue lines&#10;&#10;AI-generated content may be incorrect.">
            <a:extLst>
              <a:ext uri="{FF2B5EF4-FFF2-40B4-BE49-F238E27FC236}">
                <a16:creationId xmlns:a16="http://schemas.microsoft.com/office/drawing/2014/main" id="{94443F42-5FFE-4D09-CEFA-4202CC20B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085" y="3523657"/>
            <a:ext cx="5078187" cy="247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162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89B62-6084-6338-D395-052707AD4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52"/>
            <a:ext cx="5613399" cy="5024920"/>
          </a:xfrm>
        </p:spPr>
        <p:txBody>
          <a:bodyPr anchor="ctr">
            <a:normAutofit/>
          </a:bodyPr>
          <a:lstStyle/>
          <a:p>
            <a:r>
              <a:rPr lang="en-GB" sz="5100"/>
              <a:t>Recommendations</a:t>
            </a:r>
            <a:endParaRPr lang="en-US" sz="5100"/>
          </a:p>
          <a:p>
            <a:endParaRPr lang="en-GB" sz="51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4F7EC0-B8AC-4E93-A415-71AF71B12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5FC48-16CA-3434-9735-A40B7EAFB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624" y="976158"/>
            <a:ext cx="4440589" cy="5024931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GB" sz="2000"/>
          </a:p>
          <a:p>
            <a:endParaRPr lang="en-GB" sz="2000"/>
          </a:p>
          <a:p>
            <a:r>
              <a:rPr lang="en-GB" sz="2000">
                <a:ea typeface="+mn-lt"/>
                <a:cs typeface="+mn-lt"/>
              </a:rPr>
              <a:t>• Offer discounts for long-term contracts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Improve customer support quality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Introduce loyalty programs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Analyze high-risk customers regularly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Reduce churn through targeted retention campaigns</a:t>
            </a:r>
            <a:endParaRPr lang="en-GB" sz="20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F0AD64-835F-42E2-B4C7-47A77348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41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B131C-FE01-CF5C-7E51-062F1BE8E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52"/>
            <a:ext cx="5613399" cy="5024920"/>
          </a:xfrm>
        </p:spPr>
        <p:txBody>
          <a:bodyPr anchor="ctr">
            <a:normAutofit/>
          </a:bodyPr>
          <a:lstStyle/>
          <a:p>
            <a:r>
              <a:rPr lang="en-GB">
                <a:ea typeface="+mj-lt"/>
                <a:cs typeface="+mj-lt"/>
              </a:rPr>
              <a:t>Conclusion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4F7EC0-B8AC-4E93-A415-71AF71B12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B41F7-42E1-B279-6DE6-78DFD301F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624" y="976158"/>
            <a:ext cx="4440589" cy="50249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>
                <a:solidFill>
                  <a:srgbClr val="FF0000"/>
                </a:solidFill>
                <a:ea typeface="+mn-lt"/>
                <a:cs typeface="+mn-lt"/>
              </a:rPr>
              <a:t>Conclusion</a:t>
            </a:r>
            <a:endParaRPr lang="en-US" sz="2000">
              <a:solidFill>
                <a:srgbClr val="FF0000"/>
              </a:solidFill>
            </a:endParaRPr>
          </a:p>
          <a:p>
            <a:endParaRPr lang="en-GB" sz="2000"/>
          </a:p>
          <a:p>
            <a:r>
              <a:rPr lang="en-GB" sz="2000">
                <a:ea typeface="+mn-lt"/>
                <a:cs typeface="+mn-lt"/>
              </a:rPr>
              <a:t>This project helped identify customer churn patterns and key retention factors.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The analysis provided business insights to improve customer satisfaction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and reduce customer loss.</a:t>
            </a:r>
            <a:endParaRPr lang="en-GB" sz="20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F0AD64-835F-42E2-B4C7-47A77348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918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A718FF-8377-7998-59DB-9B4A9CBA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52"/>
            <a:ext cx="5613399" cy="5024920"/>
          </a:xfrm>
        </p:spPr>
        <p:txBody>
          <a:bodyPr anchor="ctr">
            <a:normAutofit/>
          </a:bodyPr>
          <a:lstStyle/>
          <a:p>
            <a:r>
              <a:rPr lang="en-GB">
                <a:ea typeface="+mj-lt"/>
                <a:cs typeface="+mj-lt"/>
              </a:rPr>
              <a:t>GitHub Repository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4F7EC0-B8AC-4E93-A415-71AF71B12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7808A-F2D1-7F9C-C87E-5AA9D759C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624" y="976158"/>
            <a:ext cx="4440589" cy="50249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000">
                <a:solidFill>
                  <a:srgbClr val="FF0000"/>
                </a:solidFill>
                <a:ea typeface="+mn-lt"/>
                <a:cs typeface="+mn-lt"/>
              </a:rPr>
              <a:t>GitHub Repository:</a:t>
            </a:r>
            <a:endParaRPr lang="en-US" sz="200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GB" sz="2000" dirty="0">
                <a:ea typeface="+mn-lt"/>
                <a:cs typeface="+mn-lt"/>
              </a:rPr>
              <a:t>https://github.com/dhathri-252/FUTURE_DS_02</a:t>
            </a:r>
            <a:endParaRPr lang="en-US" sz="2000" dirty="0">
              <a:ea typeface="+mn-lt"/>
              <a:cs typeface="+mn-lt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F0AD64-835F-42E2-B4C7-47A77348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117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09" y="489853"/>
            <a:ext cx="6186871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D22AC-CEC7-4BA9-0B66-9B35A4AFF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52"/>
            <a:ext cx="5613399" cy="5024920"/>
          </a:xfrm>
        </p:spPr>
        <p:txBody>
          <a:bodyPr anchor="ctr">
            <a:normAutofit/>
          </a:bodyPr>
          <a:lstStyle/>
          <a:p>
            <a:r>
              <a:rPr lang="en-GB">
                <a:ea typeface="+mj-lt"/>
                <a:cs typeface="+mj-lt"/>
              </a:rPr>
              <a:t>Thank You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4F7EC0-B8AC-4E93-A415-71AF71B12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Content Placeholder 6" descr="Funny face outline with solid fill">
            <a:extLst>
              <a:ext uri="{FF2B5EF4-FFF2-40B4-BE49-F238E27FC236}">
                <a16:creationId xmlns:a16="http://schemas.microsoft.com/office/drawing/2014/main" id="{5B2D37D8-DEE6-536F-D087-657FC08F1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40179" y="1464531"/>
            <a:ext cx="3158836" cy="247996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6F0AD64-835F-42E2-B4C7-47A77348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626693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LevelVTI</vt:lpstr>
      <vt:lpstr>Task 2 Report Structure </vt:lpstr>
      <vt:lpstr>Objective</vt:lpstr>
      <vt:lpstr>Dataset Information</vt:lpstr>
      <vt:lpstr>Tools &amp; Technologies Used</vt:lpstr>
      <vt:lpstr>Data Cleaning Process</vt:lpstr>
      <vt:lpstr>Customer Churn Analysis</vt:lpstr>
      <vt:lpstr>EXAMPLES</vt:lpstr>
      <vt:lpstr>Contract Type Analysis</vt:lpstr>
      <vt:lpstr>Monthly Charges Analysis</vt:lpstr>
      <vt:lpstr>Recommendations </vt:lpstr>
      <vt:lpstr>Conclusion</vt:lpstr>
      <vt:lpstr>GitHub Repository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183</cp:revision>
  <dcterms:created xsi:type="dcterms:W3CDTF">2026-05-14T12:47:00Z</dcterms:created>
  <dcterms:modified xsi:type="dcterms:W3CDTF">2026-05-14T13:28:21Z</dcterms:modified>
</cp:coreProperties>
</file>